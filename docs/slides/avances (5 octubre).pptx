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19C"/>
    <a:srgbClr val="35A93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D4E9-78EF-43C4-9CD2-9E4EDA6FE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4F519-0430-4854-886A-EA1184004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>
                <a:latin typeface="Montserra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3EFA3-339D-46A1-B706-ED7491F8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F7444-4632-4E3A-A0F4-4DA155765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F5E9C-D6D7-448A-823C-851F3970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n 6" descr="Imagen que contiene dibujo, señal, reloj&#10;&#10;Descripción generada automáticamente">
            <a:extLst>
              <a:ext uri="{FF2B5EF4-FFF2-40B4-BE49-F238E27FC236}">
                <a16:creationId xmlns:a16="http://schemas.microsoft.com/office/drawing/2014/main" id="{2801B66C-3C67-4EC1-A2ED-CDEB612AC1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917" y="187715"/>
            <a:ext cx="3352800" cy="77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7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irs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9C1C-E2DB-4E4E-AE83-B1232B17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Ligh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A772F-5506-4537-B96C-C64262C05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 Light" pitchFamily="2" charset="0"/>
              </a:defRPr>
            </a:lvl1pPr>
            <a:lvl2pPr>
              <a:defRPr>
                <a:latin typeface="Montserrat Light" pitchFamily="2" charset="0"/>
              </a:defRPr>
            </a:lvl2pPr>
            <a:lvl3pPr>
              <a:defRPr>
                <a:latin typeface="Montserrat Light" pitchFamily="2" charset="0"/>
              </a:defRPr>
            </a:lvl3pPr>
            <a:lvl4pPr>
              <a:defRPr>
                <a:latin typeface="Montserrat Light" pitchFamily="2" charset="0"/>
              </a:defRPr>
            </a:lvl4pPr>
            <a:lvl5pPr>
              <a:defRPr>
                <a:latin typeface="Montserrat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B448-82AE-4B1E-A6A5-94093E42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82315-D18C-4FF4-BBC2-188DD34C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2A364-B67B-4AF6-B097-3B4FB4D2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Imagen 6" descr="Imagen que contiene dibujo, señal, reloj&#10;&#10;Descripción generada automáticamente">
            <a:extLst>
              <a:ext uri="{FF2B5EF4-FFF2-40B4-BE49-F238E27FC236}">
                <a16:creationId xmlns:a16="http://schemas.microsoft.com/office/drawing/2014/main" id="{3152DCBE-53B2-442E-9DC1-C67EF4D515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917" y="187715"/>
            <a:ext cx="3352800" cy="77074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C367C44-28DB-439D-BB38-17D8033ED85F}"/>
              </a:ext>
            </a:extLst>
          </p:cNvPr>
          <p:cNvGrpSpPr/>
          <p:nvPr userDrawn="1"/>
        </p:nvGrpSpPr>
        <p:grpSpPr>
          <a:xfrm>
            <a:off x="8641080" y="116214"/>
            <a:ext cx="852407" cy="852407"/>
            <a:chOff x="8567949" y="-1121045"/>
            <a:chExt cx="852407" cy="85240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7BFF54-9663-4814-A4CD-E4D9C786C054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019977B7-F9CC-4A15-92BA-D388A7BBF26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640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4.81481E-6 L 0.21094 4.81481E-6 " pathEditMode="relative" rAng="0" ptsTypes="AA">
                                      <p:cBhvr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9C1C-E2DB-4E4E-AE83-B1232B17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Ligh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A772F-5506-4537-B96C-C64262C05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 Light" pitchFamily="2" charset="0"/>
              </a:defRPr>
            </a:lvl1pPr>
            <a:lvl2pPr>
              <a:defRPr>
                <a:latin typeface="Montserrat Light" pitchFamily="2" charset="0"/>
              </a:defRPr>
            </a:lvl2pPr>
            <a:lvl3pPr>
              <a:defRPr>
                <a:latin typeface="Montserrat Light" pitchFamily="2" charset="0"/>
              </a:defRPr>
            </a:lvl3pPr>
            <a:lvl4pPr>
              <a:defRPr>
                <a:latin typeface="Montserrat Light" pitchFamily="2" charset="0"/>
              </a:defRPr>
            </a:lvl4pPr>
            <a:lvl5pPr>
              <a:defRPr>
                <a:latin typeface="Montserrat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B448-82AE-4B1E-A6A5-94093E42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82315-D18C-4FF4-BBC2-188DD34C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2A364-B67B-4AF6-B097-3B4FB4D2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458CE5-5633-41C3-82A3-8193834E1652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8EB2E43-54DB-44CB-8B26-A8F528AE318F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0754832C-78D7-4CEB-A580-39578355C5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6443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7550-CB63-453E-B219-FDC203A92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 Ligh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BC66F-1283-4DFE-9648-EF07EA6B1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tx1">
                    <a:tint val="75000"/>
                  </a:schemeClr>
                </a:solidFill>
                <a:latin typeface="Montserrat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A097C-6D51-49B9-BAF9-BBB53B1A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F4A85-C885-4A55-A497-53FE13A3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A63A0-CDCB-4860-A86D-3D5B319F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AF5E75B-9A05-494D-BDA7-6482268024F3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1E658E7-AD50-4403-AE74-D974856DF826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A1851278-C023-4CF1-9C61-CBF064ECDD4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906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F7F37-0451-4285-8B96-B4549F8E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Ligh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EBE33-861E-46B7-B4B3-13C2F5268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latin typeface="Montserrat Light" pitchFamily="2" charset="0"/>
              </a:defRPr>
            </a:lvl1pPr>
            <a:lvl2pPr>
              <a:defRPr sz="2000">
                <a:latin typeface="Montserrat Light" pitchFamily="2" charset="0"/>
              </a:defRPr>
            </a:lvl2pPr>
            <a:lvl3pPr>
              <a:defRPr sz="1800">
                <a:latin typeface="Montserrat Light" pitchFamily="2" charset="0"/>
              </a:defRPr>
            </a:lvl3pPr>
            <a:lvl4pPr>
              <a:defRPr sz="1600">
                <a:latin typeface="Montserrat Light" pitchFamily="2" charset="0"/>
              </a:defRPr>
            </a:lvl4pPr>
            <a:lvl5pPr>
              <a:defRPr sz="1600">
                <a:latin typeface="Montserrat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DFD2C-CDD7-44C8-B8B8-C3D85B96A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latin typeface="Montserrat Light" pitchFamily="2" charset="0"/>
              </a:defRPr>
            </a:lvl1pPr>
            <a:lvl2pPr>
              <a:defRPr sz="2000">
                <a:latin typeface="Montserrat Light" pitchFamily="2" charset="0"/>
              </a:defRPr>
            </a:lvl2pPr>
            <a:lvl3pPr>
              <a:defRPr sz="1800">
                <a:latin typeface="Montserrat Light" pitchFamily="2" charset="0"/>
              </a:defRPr>
            </a:lvl3pPr>
            <a:lvl4pPr>
              <a:defRPr sz="1600">
                <a:latin typeface="Montserrat Light" pitchFamily="2" charset="0"/>
              </a:defRPr>
            </a:lvl4pPr>
            <a:lvl5pPr>
              <a:defRPr sz="1600">
                <a:latin typeface="Montserrat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93BD1-F724-4044-8C06-68A04E61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E2A99-13B2-42F3-8A5E-373AA22F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81AF4-6385-4B10-A8D4-63EABB6C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E4457A8-1960-47DF-9945-47491A5CD1DB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073BCB4-C384-4E03-917D-C95195059980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875913CA-41A3-4BDC-8F94-A9AF348063C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952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ABFC-430E-41EC-95C0-64178EA9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Montserrat Ligh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21952-994F-48A4-806F-843A78740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 L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B01C8-905D-4FE6-9615-F6505D73A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 Light" pitchFamily="2" charset="0"/>
              </a:defRPr>
            </a:lvl1pPr>
            <a:lvl2pPr>
              <a:defRPr>
                <a:latin typeface="Montserrat Light" pitchFamily="2" charset="0"/>
              </a:defRPr>
            </a:lvl2pPr>
            <a:lvl3pPr>
              <a:defRPr>
                <a:latin typeface="Montserrat Light" pitchFamily="2" charset="0"/>
              </a:defRPr>
            </a:lvl3pPr>
            <a:lvl4pPr>
              <a:defRPr>
                <a:latin typeface="Montserrat Light" pitchFamily="2" charset="0"/>
              </a:defRPr>
            </a:lvl4pPr>
            <a:lvl5pPr>
              <a:defRPr>
                <a:latin typeface="Montserrat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A919C-36D8-483F-961A-0FBE0011F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 L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2296F-8CC5-407A-8D43-FA5B927FA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 Light" pitchFamily="2" charset="0"/>
              </a:defRPr>
            </a:lvl1pPr>
            <a:lvl2pPr>
              <a:defRPr>
                <a:latin typeface="Montserrat Light" pitchFamily="2" charset="0"/>
              </a:defRPr>
            </a:lvl2pPr>
            <a:lvl3pPr>
              <a:defRPr>
                <a:latin typeface="Montserrat Light" pitchFamily="2" charset="0"/>
              </a:defRPr>
            </a:lvl3pPr>
            <a:lvl4pPr>
              <a:defRPr>
                <a:latin typeface="Montserrat Light" pitchFamily="2" charset="0"/>
              </a:defRPr>
            </a:lvl4pPr>
            <a:lvl5pPr>
              <a:defRPr>
                <a:latin typeface="Montserrat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13470-BA85-4AA8-840C-8A9DAFDC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E9C1B-776C-40AB-BC8C-444959EB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B86D74-133A-4ACE-8C65-D4CF702C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F9758E-6F8E-4B1B-80CA-96B1B3D371B0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02A16A6-E1D9-490E-9410-DF2539117BAF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B29264B8-E200-4EE8-91B5-424EACBABD6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4733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789C9-B92A-433A-955F-9E34B3F3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8C7B4-845E-4589-8DD8-B8EDE659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7CB61-BDE9-4B83-B2F0-EBC62BB4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761D4-3F9F-4DD8-B2C6-471F1AED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3CBBE3-1DF7-4D2B-AD9C-39AE22C187D9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2FB9699-187C-49F6-A65F-59221D51CF3D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E58419FB-D6E1-4003-BED9-F70EA8C2F0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116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BB0B0-87E7-4720-890B-33F64D62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F30C31-0268-414C-9114-0053BC6B1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27F10-C688-4DEA-A789-EE52F7872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F27E74-C292-4FA7-81F7-D9E8E65D9C6C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BB6538-C0BD-4DB6-9F13-F934370E3148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E0A19609-D9A9-4DB8-81B9-2EB64FCED73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471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4D60-59C7-4C4A-A16B-81043250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69DE0-D8F3-40EB-AE1F-3AA019BCD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F90A5-6F86-429D-8795-566C705B0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4E1F0-08A3-480F-9F2D-3DA08F7A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DD16D-CA4F-4495-93B6-D73BAD7A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01AE5-FE00-49AE-ACE1-F1EA6A78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8C4E78-1AE2-4F9B-A580-2A58EA1A7A86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C5B4779-09D0-41F9-B227-BA317EF7CC91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1DBB392E-0D79-419A-8506-8333A39C7B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192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3BF63-C361-4F48-A526-ED0EE268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FA4A7F-7869-4C6B-B6D6-11E5B7DF2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9FDBD-EB80-4512-BD49-B699D49ED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AC335-9414-4871-BA30-49E7FAAD7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5FF0E-B65B-41BA-9BB2-822B8B28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AEC2D-77AF-4DEA-8DD4-A5171E425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811171-7F08-45A6-9FAA-353E5A9EB8E8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539A92-F51B-446C-A493-9627180E18BB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79DC7FC7-638F-493B-92DE-749957D9C99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449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3BA1-5E5E-4454-9DDE-133014B2C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9C44C-87FA-4B64-AC8D-778FAA7B7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666CA-FD89-4ED0-8D4F-F0BFF74D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E79BB-96E8-4F56-AD98-FB5042E4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87E34-B4E4-4056-A2BE-995ECCAF5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AA5C4C-540D-4D66-B7DB-8CE97C7B7415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BE616BA-8B59-43B7-9A49-272202D75339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0EBAD1F1-1ADD-4FFC-9379-40C8282E1B1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6200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70888-D91C-4963-BA77-0DEDFE88C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FB4BD-CCAD-4F28-BAC4-7AFF49FAE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0064F-B2C5-4EB9-88A5-5C500E5A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65B7-13F8-4CDF-975B-C9B697A74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51E9-3C6A-4279-AA56-3C75684E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1FE8F6-5CAC-4BE2-9E44-CEAEDB4FCC1B}"/>
              </a:ext>
            </a:extLst>
          </p:cNvPr>
          <p:cNvGrpSpPr/>
          <p:nvPr userDrawn="1"/>
        </p:nvGrpSpPr>
        <p:grpSpPr>
          <a:xfrm>
            <a:off x="11214160" y="119086"/>
            <a:ext cx="852407" cy="852407"/>
            <a:chOff x="8567949" y="-1121045"/>
            <a:chExt cx="852407" cy="8524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D6E822-459F-4EA5-9339-3ECB73A374DF}"/>
                </a:ext>
              </a:extLst>
            </p:cNvPr>
            <p:cNvSpPr/>
            <p:nvPr userDrawn="1"/>
          </p:nvSpPr>
          <p:spPr>
            <a:xfrm>
              <a:off x="8567949" y="-1121045"/>
              <a:ext cx="852407" cy="852407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Imagen 6" descr="Imagen que contiene dibujo, señal, reloj&#10;&#10;Descripción generada automáticamente">
              <a:extLst>
                <a:ext uri="{FF2B5EF4-FFF2-40B4-BE49-F238E27FC236}">
                  <a16:creationId xmlns:a16="http://schemas.microsoft.com/office/drawing/2014/main" id="{3A3FF487-D92E-4332-9175-3182DC42962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742"/>
            <a:stretch/>
          </p:blipFill>
          <p:spPr>
            <a:xfrm>
              <a:off x="8601107" y="-1051708"/>
              <a:ext cx="813316" cy="770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5070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F135A-F987-41DE-8BAB-E790569C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D9F1A-63F1-45D1-B777-86209C373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76DF2-08DA-4487-833A-CC434F397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DFCE5-43CC-4E76-84AF-97599AC19FF2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04DB-BD06-4206-82A1-CF317C282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C954-0007-433D-8771-2B999FCE2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349B3-4058-40EC-90BE-72C459DD1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9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badi Extra Light" panose="020B02040201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853F-6B57-D620-0E13-2E167C948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55062"/>
            <a:ext cx="9144000" cy="602471"/>
          </a:xfrm>
        </p:spPr>
        <p:txBody>
          <a:bodyPr>
            <a:noAutofit/>
          </a:bodyPr>
          <a:lstStyle/>
          <a:p>
            <a:r>
              <a:rPr lang="en-US" sz="3600" cap="small" dirty="0"/>
              <a:t>% avances (5 </a:t>
            </a:r>
            <a:r>
              <a:rPr lang="en-US" sz="3600" cap="small" dirty="0" err="1"/>
              <a:t>octubre</a:t>
            </a:r>
            <a:r>
              <a:rPr lang="en-US" sz="3600" cap="small" dirty="0"/>
              <a:t>)</a:t>
            </a:r>
            <a:endParaRPr lang="es-MX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AD9720-22B1-2E3B-C767-357EBFDAB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33"/>
            <a:ext cx="3158002" cy="8535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4F42F2-68BB-D687-A8DE-29E25FCCB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1781175"/>
            <a:ext cx="33909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2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6EFAAD-5276-4212-55BC-E2D5A376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647" y="1461540"/>
            <a:ext cx="3868706" cy="39349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6A99AF-B328-17B1-D484-A86B7E49670E}"/>
              </a:ext>
            </a:extLst>
          </p:cNvPr>
          <p:cNvSpPr txBox="1"/>
          <p:nvPr/>
        </p:nvSpPr>
        <p:spPr>
          <a:xfrm>
            <a:off x="8203367" y="1801530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80%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9D64A-D38F-77DB-F37E-7B5F730A3BD2}"/>
              </a:ext>
            </a:extLst>
          </p:cNvPr>
          <p:cNvSpPr txBox="1"/>
          <p:nvPr/>
        </p:nvSpPr>
        <p:spPr>
          <a:xfrm>
            <a:off x="8203367" y="3228945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2BA7C0-6FD2-695B-62B1-0A4764D3E2CB}"/>
              </a:ext>
            </a:extLst>
          </p:cNvPr>
          <p:cNvSpPr txBox="1"/>
          <p:nvPr/>
        </p:nvSpPr>
        <p:spPr>
          <a:xfrm>
            <a:off x="8203367" y="4656360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421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FCD6E2-7C28-65AA-B3B1-9A5CEDD134F5}"/>
              </a:ext>
            </a:extLst>
          </p:cNvPr>
          <p:cNvSpPr txBox="1"/>
          <p:nvPr/>
        </p:nvSpPr>
        <p:spPr>
          <a:xfrm>
            <a:off x="8383480" y="1912602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80%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F0937-4A02-ED29-205D-CD673752D305}"/>
              </a:ext>
            </a:extLst>
          </p:cNvPr>
          <p:cNvSpPr txBox="1"/>
          <p:nvPr/>
        </p:nvSpPr>
        <p:spPr>
          <a:xfrm>
            <a:off x="8383479" y="4533566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5</a:t>
            </a:r>
            <a:r>
              <a:rPr lang="es-MX" sz="2000" b="1" dirty="0">
                <a:effectLst/>
                <a:latin typeface="Montserrat" pitchFamily="2" charset="0"/>
              </a:rPr>
              <a:t>0%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F32E6-ECEA-93DF-F743-2BF6ED074C6F}"/>
              </a:ext>
            </a:extLst>
          </p:cNvPr>
          <p:cNvSpPr txBox="1"/>
          <p:nvPr/>
        </p:nvSpPr>
        <p:spPr>
          <a:xfrm>
            <a:off x="8383480" y="3228945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5</a:t>
            </a:r>
            <a:r>
              <a:rPr lang="es-MX" sz="2000" b="1" dirty="0">
                <a:effectLst/>
                <a:latin typeface="Montserrat" pitchFamily="2" charset="0"/>
              </a:rPr>
              <a:t>0%</a:t>
            </a:r>
            <a:endParaRPr lang="es-MX" sz="2000" b="1" dirty="0">
              <a:latin typeface="Montserrat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EFED5C-ADF0-DF9A-D608-38BAE6993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269" y="1736985"/>
            <a:ext cx="3867462" cy="338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8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CA8B79F-D4FD-32F4-F30C-B4C995BF9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705" y="600924"/>
            <a:ext cx="5196590" cy="5656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BADDAB-376C-131B-9553-9302C176C394}"/>
              </a:ext>
            </a:extLst>
          </p:cNvPr>
          <p:cNvSpPr txBox="1"/>
          <p:nvPr/>
        </p:nvSpPr>
        <p:spPr>
          <a:xfrm>
            <a:off x="6096000" y="2119673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90</a:t>
            </a:r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B17C6-2BBC-B4E0-67BC-72D8CE3EF8D4}"/>
              </a:ext>
            </a:extLst>
          </p:cNvPr>
          <p:cNvSpPr txBox="1"/>
          <p:nvPr/>
        </p:nvSpPr>
        <p:spPr>
          <a:xfrm>
            <a:off x="6096000" y="5597391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83</a:t>
            </a:r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B14A4-9F90-05DF-4A01-6EB59401C840}"/>
              </a:ext>
            </a:extLst>
          </p:cNvPr>
          <p:cNvSpPr txBox="1"/>
          <p:nvPr/>
        </p:nvSpPr>
        <p:spPr>
          <a:xfrm>
            <a:off x="8829870" y="3983195"/>
            <a:ext cx="1013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latin typeface="Montserrat" pitchFamily="2" charset="0"/>
              </a:rPr>
              <a:t>90</a:t>
            </a:r>
            <a:r>
              <a:rPr lang="es-MX" sz="2000" dirty="0">
                <a:effectLst/>
                <a:latin typeface="Montserrat" pitchFamily="2" charset="0"/>
              </a:rPr>
              <a:t>%</a:t>
            </a:r>
            <a:endParaRPr lang="es-MX" sz="2000" dirty="0">
              <a:latin typeface="Montserrat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D279F-B165-B982-4FDB-165304CDCB09}"/>
              </a:ext>
            </a:extLst>
          </p:cNvPr>
          <p:cNvSpPr txBox="1"/>
          <p:nvPr/>
        </p:nvSpPr>
        <p:spPr>
          <a:xfrm>
            <a:off x="8764556" y="4860273"/>
            <a:ext cx="1013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latin typeface="Montserrat" pitchFamily="2" charset="0"/>
              </a:rPr>
              <a:t> 90</a:t>
            </a:r>
            <a:r>
              <a:rPr lang="es-MX" sz="2000" dirty="0">
                <a:effectLst/>
                <a:latin typeface="Montserrat" pitchFamily="2" charset="0"/>
              </a:rPr>
              <a:t>%</a:t>
            </a:r>
            <a:endParaRPr lang="es-MX" sz="2000" dirty="0">
              <a:latin typeface="Montserrat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67F1E8-418D-414F-CD9E-A27D49EC83B3}"/>
              </a:ext>
            </a:extLst>
          </p:cNvPr>
          <p:cNvSpPr txBox="1"/>
          <p:nvPr/>
        </p:nvSpPr>
        <p:spPr>
          <a:xfrm>
            <a:off x="8764556" y="5662706"/>
            <a:ext cx="1013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latin typeface="Montserrat" pitchFamily="2" charset="0"/>
              </a:rPr>
              <a:t> 70</a:t>
            </a:r>
            <a:r>
              <a:rPr lang="es-MX" sz="2000" dirty="0">
                <a:effectLst/>
                <a:latin typeface="Montserrat" pitchFamily="2" charset="0"/>
              </a:rPr>
              <a:t>%</a:t>
            </a:r>
            <a:endParaRPr lang="es-MX" sz="20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7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E46B34-8EE4-08DE-ED3B-DC39DB9F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647" y="1461540"/>
            <a:ext cx="3868706" cy="39349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506F5E-6C58-D1F9-C986-0AEFDC724C03}"/>
              </a:ext>
            </a:extLst>
          </p:cNvPr>
          <p:cNvSpPr txBox="1"/>
          <p:nvPr/>
        </p:nvSpPr>
        <p:spPr>
          <a:xfrm>
            <a:off x="8203367" y="1801530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E4770-FFEA-09B9-DD81-3A55AF84E827}"/>
              </a:ext>
            </a:extLst>
          </p:cNvPr>
          <p:cNvSpPr txBox="1"/>
          <p:nvPr/>
        </p:nvSpPr>
        <p:spPr>
          <a:xfrm>
            <a:off x="8203367" y="3228945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66%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9E737-81CA-7C7C-7F21-2665EF565716}"/>
              </a:ext>
            </a:extLst>
          </p:cNvPr>
          <p:cNvSpPr txBox="1"/>
          <p:nvPr/>
        </p:nvSpPr>
        <p:spPr>
          <a:xfrm>
            <a:off x="8203367" y="4656360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66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36C37B-01A8-A948-5BA2-693A1F9F7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202" y="1940767"/>
            <a:ext cx="6113596" cy="29764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5EE316-73A7-4873-11C7-AAEF0E570863}"/>
              </a:ext>
            </a:extLst>
          </p:cNvPr>
          <p:cNvSpPr txBox="1"/>
          <p:nvPr/>
        </p:nvSpPr>
        <p:spPr>
          <a:xfrm>
            <a:off x="9232565" y="1940767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latin typeface="Montserrat" pitchFamily="2" charset="0"/>
              </a:rPr>
              <a:t>9</a:t>
            </a:r>
            <a:r>
              <a:rPr lang="es-MX" sz="2000" dirty="0">
                <a:effectLst/>
                <a:latin typeface="Montserrat" pitchFamily="2" charset="0"/>
              </a:rPr>
              <a:t>0%</a:t>
            </a:r>
            <a:endParaRPr lang="es-MX" sz="2000" dirty="0">
              <a:latin typeface="Montserrat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69DC4-6B33-C231-524A-D67C3183CB08}"/>
              </a:ext>
            </a:extLst>
          </p:cNvPr>
          <p:cNvSpPr txBox="1"/>
          <p:nvPr/>
        </p:nvSpPr>
        <p:spPr>
          <a:xfrm>
            <a:off x="9232565" y="2575248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latin typeface="Montserrat" pitchFamily="2" charset="0"/>
              </a:rPr>
              <a:t>9</a:t>
            </a:r>
            <a:r>
              <a:rPr lang="es-MX" sz="2000" dirty="0">
                <a:effectLst/>
                <a:latin typeface="Montserrat" pitchFamily="2" charset="0"/>
              </a:rPr>
              <a:t>0%</a:t>
            </a:r>
            <a:endParaRPr lang="es-MX" sz="2000" dirty="0">
              <a:latin typeface="Montserrat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2B497-FB4D-EC82-B62B-C9714A95BBB8}"/>
              </a:ext>
            </a:extLst>
          </p:cNvPr>
          <p:cNvSpPr txBox="1"/>
          <p:nvPr/>
        </p:nvSpPr>
        <p:spPr>
          <a:xfrm>
            <a:off x="9232565" y="3228945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latin typeface="Montserrat" pitchFamily="2" charset="0"/>
              </a:rPr>
              <a:t>6</a:t>
            </a:r>
            <a:r>
              <a:rPr lang="es-MX" sz="2000" dirty="0">
                <a:effectLst/>
                <a:latin typeface="Montserrat" pitchFamily="2" charset="0"/>
              </a:rPr>
              <a:t>0%</a:t>
            </a:r>
            <a:endParaRPr lang="es-MX" sz="2000" dirty="0">
              <a:latin typeface="Montserrat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72FAE-C7D2-3A5F-A977-FF43C0EBCD7B}"/>
              </a:ext>
            </a:extLst>
          </p:cNvPr>
          <p:cNvSpPr txBox="1"/>
          <p:nvPr/>
        </p:nvSpPr>
        <p:spPr>
          <a:xfrm>
            <a:off x="9232565" y="3882642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latin typeface="Montserrat" pitchFamily="2" charset="0"/>
              </a:rPr>
              <a:t>9</a:t>
            </a:r>
            <a:r>
              <a:rPr lang="es-MX" sz="2000" dirty="0">
                <a:effectLst/>
                <a:latin typeface="Montserrat" pitchFamily="2" charset="0"/>
              </a:rPr>
              <a:t>0%</a:t>
            </a:r>
            <a:endParaRPr lang="es-MX" sz="2000" dirty="0"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345B2-3875-695C-58F9-E60305DD1866}"/>
              </a:ext>
            </a:extLst>
          </p:cNvPr>
          <p:cNvSpPr txBox="1"/>
          <p:nvPr/>
        </p:nvSpPr>
        <p:spPr>
          <a:xfrm>
            <a:off x="9232565" y="4517123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effectLst/>
                <a:latin typeface="Montserrat" pitchFamily="2" charset="0"/>
              </a:rPr>
              <a:t>  0%</a:t>
            </a:r>
            <a:endParaRPr lang="es-MX" sz="2000" dirty="0">
              <a:latin typeface="Montserra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BED02-C7FB-B95B-6922-A3AC460430E5}"/>
              </a:ext>
            </a:extLst>
          </p:cNvPr>
          <p:cNvSpPr txBox="1"/>
          <p:nvPr/>
        </p:nvSpPr>
        <p:spPr>
          <a:xfrm>
            <a:off x="5407014" y="3984724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>
                <a:latin typeface="Montserrat" pitchFamily="2" charset="0"/>
              </a:rPr>
              <a:t>66</a:t>
            </a:r>
            <a:r>
              <a:rPr lang="es-MX" sz="2000" b="1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228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E46B34-8EE4-08DE-ED3B-DC39DB9F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647" y="1461540"/>
            <a:ext cx="3868706" cy="39349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506F5E-6C58-D1F9-C986-0AEFDC724C03}"/>
              </a:ext>
            </a:extLst>
          </p:cNvPr>
          <p:cNvSpPr txBox="1"/>
          <p:nvPr/>
        </p:nvSpPr>
        <p:spPr>
          <a:xfrm>
            <a:off x="8203367" y="1801530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E4770-FFEA-09B9-DD81-3A55AF84E827}"/>
              </a:ext>
            </a:extLst>
          </p:cNvPr>
          <p:cNvSpPr txBox="1"/>
          <p:nvPr/>
        </p:nvSpPr>
        <p:spPr>
          <a:xfrm>
            <a:off x="8203367" y="3228945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9E737-81CA-7C7C-7F21-2665EF565716}"/>
              </a:ext>
            </a:extLst>
          </p:cNvPr>
          <p:cNvSpPr txBox="1"/>
          <p:nvPr/>
        </p:nvSpPr>
        <p:spPr>
          <a:xfrm>
            <a:off x="8203367" y="4656360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44%</a:t>
            </a:r>
            <a:endParaRPr lang="es-MX" sz="2000" b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73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4AE4770-FFEA-09B9-DD81-3A55AF84E827}"/>
              </a:ext>
            </a:extLst>
          </p:cNvPr>
          <p:cNvSpPr txBox="1"/>
          <p:nvPr/>
        </p:nvSpPr>
        <p:spPr>
          <a:xfrm>
            <a:off x="8903654" y="4395825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80</a:t>
            </a:r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ACF39A-3B05-2065-F9EC-99F729789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346" y="2062065"/>
            <a:ext cx="5615308" cy="27338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55293C-B211-72E4-FE79-2865ED028C94}"/>
              </a:ext>
            </a:extLst>
          </p:cNvPr>
          <p:cNvSpPr txBox="1"/>
          <p:nvPr/>
        </p:nvSpPr>
        <p:spPr>
          <a:xfrm>
            <a:off x="8903654" y="3826658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0</a:t>
            </a:r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B8EC1-BC85-B790-4D62-128A217300FF}"/>
              </a:ext>
            </a:extLst>
          </p:cNvPr>
          <p:cNvSpPr txBox="1"/>
          <p:nvPr/>
        </p:nvSpPr>
        <p:spPr>
          <a:xfrm>
            <a:off x="8903654" y="3238831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50</a:t>
            </a:r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C1AEE-4541-8B98-64DE-9393EF6E98B6}"/>
              </a:ext>
            </a:extLst>
          </p:cNvPr>
          <p:cNvSpPr txBox="1"/>
          <p:nvPr/>
        </p:nvSpPr>
        <p:spPr>
          <a:xfrm>
            <a:off x="8903654" y="2651004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60</a:t>
            </a:r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433BA-F065-77D8-6718-DF951CEB981D}"/>
              </a:ext>
            </a:extLst>
          </p:cNvPr>
          <p:cNvSpPr txBox="1"/>
          <p:nvPr/>
        </p:nvSpPr>
        <p:spPr>
          <a:xfrm>
            <a:off x="8903654" y="2062065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30</a:t>
            </a:r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465E5-EF42-B097-41D4-FD9853BCDBCF}"/>
              </a:ext>
            </a:extLst>
          </p:cNvPr>
          <p:cNvSpPr txBox="1"/>
          <p:nvPr/>
        </p:nvSpPr>
        <p:spPr>
          <a:xfrm>
            <a:off x="5445108" y="3826658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44</a:t>
            </a:r>
            <a:r>
              <a:rPr lang="es-MX" sz="2000" b="1" dirty="0">
                <a:effectLst/>
                <a:latin typeface="Montserrat" pitchFamily="2" charset="0"/>
              </a:rPr>
              <a:t>%</a:t>
            </a:r>
            <a:endParaRPr lang="es-MX" sz="2000" b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856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E46B34-8EE4-08DE-ED3B-DC39DB9F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647" y="1461540"/>
            <a:ext cx="3868706" cy="39349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506F5E-6C58-D1F9-C986-0AEFDC724C03}"/>
              </a:ext>
            </a:extLst>
          </p:cNvPr>
          <p:cNvSpPr txBox="1"/>
          <p:nvPr/>
        </p:nvSpPr>
        <p:spPr>
          <a:xfrm>
            <a:off x="8203367" y="1801530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80%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E4770-FFEA-09B9-DD81-3A55AF84E827}"/>
              </a:ext>
            </a:extLst>
          </p:cNvPr>
          <p:cNvSpPr txBox="1"/>
          <p:nvPr/>
        </p:nvSpPr>
        <p:spPr>
          <a:xfrm>
            <a:off x="8203367" y="3228945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66%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9E737-81CA-7C7C-7F21-2665EF565716}"/>
              </a:ext>
            </a:extLst>
          </p:cNvPr>
          <p:cNvSpPr txBox="1"/>
          <p:nvPr/>
        </p:nvSpPr>
        <p:spPr>
          <a:xfrm>
            <a:off x="8203367" y="4656360"/>
            <a:ext cx="790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ffectLst/>
                <a:latin typeface="Montserrat" pitchFamily="2" charset="0"/>
              </a:rPr>
              <a:t>44%</a:t>
            </a:r>
            <a:endParaRPr lang="es-MX" sz="2000" b="1" dirty="0">
              <a:latin typeface="Montserra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255486-1EF1-E067-9DD8-14EC56E29605}"/>
              </a:ext>
            </a:extLst>
          </p:cNvPr>
          <p:cNvSpPr txBox="1"/>
          <p:nvPr/>
        </p:nvSpPr>
        <p:spPr>
          <a:xfrm>
            <a:off x="4161647" y="4333194"/>
            <a:ext cx="1675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>
                <a:effectLst/>
                <a:latin typeface="Montserrat" pitchFamily="2" charset="0"/>
              </a:rPr>
              <a:t>~63%</a:t>
            </a:r>
            <a:endParaRPr lang="es-MX" sz="3600" b="1" dirty="0">
              <a:latin typeface="Montserra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7E09C-BCE3-6EC6-B559-A13A46F38E00}"/>
              </a:ext>
            </a:extLst>
          </p:cNvPr>
          <p:cNvSpPr txBox="1"/>
          <p:nvPr/>
        </p:nvSpPr>
        <p:spPr>
          <a:xfrm>
            <a:off x="5205655" y="6077594"/>
            <a:ext cx="6786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1600" dirty="0">
                <a:effectLst/>
                <a:latin typeface="Montserrat" pitchFamily="2" charset="0"/>
              </a:rPr>
              <a:t>Porcentaje no proporcional al tiempo.</a:t>
            </a:r>
          </a:p>
          <a:p>
            <a:pPr algn="r"/>
            <a:r>
              <a:rPr lang="es-MX" sz="1600" dirty="0">
                <a:effectLst/>
                <a:latin typeface="Montserrat" pitchFamily="2" charset="0"/>
              </a:rPr>
              <a:t>Lo que requería más tiempo era el desarrollo de la herramienta.</a:t>
            </a:r>
            <a:endParaRPr lang="es-MX" sz="16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597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F757-69AA-ABFC-B8BF-8EAF60B90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Calendarización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2B075-96A3-0A99-2A41-6C31C7334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26 de </a:t>
            </a:r>
            <a:r>
              <a:rPr lang="en-US" dirty="0" err="1"/>
              <a:t>octubre</a:t>
            </a:r>
            <a:r>
              <a:rPr lang="en-US" dirty="0"/>
              <a:t> (</a:t>
            </a:r>
            <a:r>
              <a:rPr lang="en-US" sz="1800" dirty="0"/>
              <a:t>3semanas</a:t>
            </a:r>
            <a:r>
              <a:rPr lang="en-US" dirty="0"/>
              <a:t>): </a:t>
            </a:r>
            <a:r>
              <a:rPr lang="en-US" b="0" dirty="0"/>
              <a:t>Netective v0.9 </a:t>
            </a:r>
            <a:r>
              <a:rPr lang="en-US" b="0" dirty="0">
                <a:sym typeface="Wingdings" panose="05000000000000000000" pitchFamily="2" charset="2"/>
              </a:rPr>
              <a:t> </a:t>
            </a:r>
            <a:r>
              <a:rPr lang="en-US" b="0" dirty="0" err="1">
                <a:sym typeface="Wingdings" panose="05000000000000000000" pitchFamily="2" charset="2"/>
              </a:rPr>
              <a:t>Pypi</a:t>
            </a:r>
            <a:endParaRPr lang="en-US" b="0" dirty="0"/>
          </a:p>
          <a:p>
            <a:pPr lvl="1"/>
            <a:r>
              <a:rPr lang="es-MX" sz="2000" dirty="0"/>
              <a:t>Nos permitirá usar netective con redes más grandes.</a:t>
            </a:r>
          </a:p>
          <a:p>
            <a:pPr lvl="1"/>
            <a:r>
              <a:rPr lang="es-MX" sz="2000" dirty="0"/>
              <a:t>Postergaremos a una segunda versión de netective el </a:t>
            </a:r>
            <a:r>
              <a:rPr lang="es-MX" sz="2000" dirty="0" err="1"/>
              <a:t>sampleo</a:t>
            </a:r>
            <a:r>
              <a:rPr lang="es-MX" sz="2000" dirty="0"/>
              <a:t> de las redes.</a:t>
            </a:r>
          </a:p>
          <a:p>
            <a:pPr lvl="2"/>
            <a:r>
              <a:rPr lang="es-MX" sz="1400" dirty="0"/>
              <a:t>Requiere un análisis previo para determinar el mejor </a:t>
            </a:r>
            <a:r>
              <a:rPr lang="es-MX" sz="1400" dirty="0" err="1"/>
              <a:t>sampleo</a:t>
            </a:r>
            <a:r>
              <a:rPr lang="es-MX" sz="1400" dirty="0"/>
              <a:t> para nuestra aplicación, dado que no hay un método que de manera consistente recupere la estructura de una red a partir de </a:t>
            </a:r>
            <a:r>
              <a:rPr lang="es-MX" sz="1400" dirty="0" err="1"/>
              <a:t>sampleos</a:t>
            </a:r>
            <a:r>
              <a:rPr lang="es-MX" sz="1400" dirty="0"/>
              <a:t> [10.1007/s13278-023-01060-5].</a:t>
            </a:r>
          </a:p>
          <a:p>
            <a:pPr lvl="2"/>
            <a:endParaRPr lang="es-MX" sz="1400" dirty="0"/>
          </a:p>
          <a:p>
            <a:r>
              <a:rPr lang="es-MX" dirty="0"/>
              <a:t>9 de noviembre </a:t>
            </a:r>
            <a:r>
              <a:rPr lang="en-US" dirty="0"/>
              <a:t>(</a:t>
            </a:r>
            <a:r>
              <a:rPr lang="en-US" sz="1800" dirty="0"/>
              <a:t>2semanas</a:t>
            </a:r>
            <a:r>
              <a:rPr lang="en-US" dirty="0"/>
              <a:t>)</a:t>
            </a:r>
            <a:r>
              <a:rPr lang="es-MX" dirty="0"/>
              <a:t>: </a:t>
            </a:r>
            <a:r>
              <a:rPr lang="es-MX" b="0" dirty="0"/>
              <a:t>Aplicaciones</a:t>
            </a:r>
          </a:p>
          <a:p>
            <a:pPr lvl="1"/>
            <a:r>
              <a:rPr lang="es-MX" sz="2000" dirty="0"/>
              <a:t>Resultados y gráficas</a:t>
            </a:r>
          </a:p>
          <a:p>
            <a:pPr lvl="1"/>
            <a:endParaRPr lang="es-MX" sz="2000" b="0" dirty="0"/>
          </a:p>
          <a:p>
            <a:r>
              <a:rPr lang="es-MX" dirty="0"/>
              <a:t>23 de noviembre </a:t>
            </a:r>
            <a:r>
              <a:rPr lang="en-US" dirty="0"/>
              <a:t>(</a:t>
            </a:r>
            <a:r>
              <a:rPr lang="en-US" sz="1800" dirty="0"/>
              <a:t>2semanas</a:t>
            </a:r>
            <a:r>
              <a:rPr lang="en-US" dirty="0"/>
              <a:t>)</a:t>
            </a:r>
            <a:r>
              <a:rPr lang="es-MX" dirty="0"/>
              <a:t>: </a:t>
            </a:r>
            <a:r>
              <a:rPr lang="es-MX" b="0" dirty="0"/>
              <a:t>Artículo y documentación</a:t>
            </a:r>
            <a:endParaRPr lang="es-MX" sz="2200" dirty="0"/>
          </a:p>
          <a:p>
            <a:endParaRPr lang="es-MX" sz="2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812D707-7FCD-C344-387E-394789D02A14}"/>
              </a:ext>
            </a:extLst>
          </p:cNvPr>
          <p:cNvCxnSpPr/>
          <p:nvPr/>
        </p:nvCxnSpPr>
        <p:spPr>
          <a:xfrm>
            <a:off x="1082351" y="2463282"/>
            <a:ext cx="0" cy="1222310"/>
          </a:xfrm>
          <a:prstGeom prst="straightConnector1">
            <a:avLst/>
          </a:prstGeom>
          <a:ln w="762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4E67CE-E989-DB00-EFE3-7294D6E59FE7}"/>
              </a:ext>
            </a:extLst>
          </p:cNvPr>
          <p:cNvCxnSpPr>
            <a:cxnSpLocks/>
          </p:cNvCxnSpPr>
          <p:nvPr/>
        </p:nvCxnSpPr>
        <p:spPr>
          <a:xfrm>
            <a:off x="1082351" y="4478695"/>
            <a:ext cx="0" cy="653142"/>
          </a:xfrm>
          <a:prstGeom prst="straightConnector1">
            <a:avLst/>
          </a:prstGeom>
          <a:ln w="762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5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69_montserrat.potx" id="{17761F28-4007-4EA0-B659-B36E07C9DABC}" vid="{81DE8EFB-5079-471B-AE0E-6A6B15CB3F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WS69_montserrat</Template>
  <TotalTime>304</TotalTime>
  <Words>180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Abadi Extra Light</vt:lpstr>
      <vt:lpstr>Arial</vt:lpstr>
      <vt:lpstr>Calibri</vt:lpstr>
      <vt:lpstr>Montserrat</vt:lpstr>
      <vt:lpstr>Montserrat Light</vt:lpstr>
      <vt:lpstr>Office Theme</vt:lpstr>
      <vt:lpstr>% avances (5 octubre)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Calendarización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% avances (5 octubre)</dc:title>
  <dc:creator>Juan Miguel Escorcia Rodríguez</dc:creator>
  <cp:lastModifiedBy>Juan Miguel Escorcia Rodríguez</cp:lastModifiedBy>
  <cp:revision>5</cp:revision>
  <dcterms:created xsi:type="dcterms:W3CDTF">2023-09-29T01:30:15Z</dcterms:created>
  <dcterms:modified xsi:type="dcterms:W3CDTF">2023-10-02T17:32:19Z</dcterms:modified>
</cp:coreProperties>
</file>